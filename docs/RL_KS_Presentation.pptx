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Reinforcement Learning with Knowledge Shaping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Control Tasks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CSCE 5214 - Course Project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November 2025</a:t>
            </a:r>
          </a:p>
          <a:p>
            <a:pPr lvl="0" indent="0" marL="0">
              <a:buNone/>
            </a:pPr>
            <a:r>
              <a:rPr b="1"/>
              <a:t>Team Members:</a:t>
            </a:r>
            <a:r>
              <a:rPr/>
              <a:t> - Charith Kapuluru - Bhargav Reddy Alimili - Karthik Saraf - Sreekanth Taduru - Himesh Chander Addiga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Title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Reinforcement Learning with Knowledge Shaping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Accelerating RL through Transfer Learning</a:t>
            </a:r>
          </a:p>
          <a:p>
            <a:pPr lvl="0" indent="0" marL="0">
              <a:buNone/>
            </a:pPr>
            <a:r>
              <a:rPr/>
              <a:t>Team Members: Charith Kapuluru, Bhargav Reddy Alimili, Karthik Saraf, Sreekanth Taduru, Himesh Chander Addiga</a:t>
            </a:r>
          </a:p>
          <a:p>
            <a:pPr lvl="0" indent="0" marL="0">
              <a:buNone/>
            </a:pPr>
            <a:r>
              <a:rPr/>
              <a:t>CSCE 5214 | November 2025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The Problem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Knowledge Transfer?</a:t>
            </a:r>
          </a:p>
          <a:p>
            <a:pPr lvl="0" indent="0" marL="0">
              <a:buNone/>
            </a:pPr>
            <a:r>
              <a:rPr b="1"/>
              <a:t>Challenge:</a:t>
            </a:r>
            <a:r>
              <a:rPr/>
              <a:t> - RL agents learn from scratch → slow and sample-inefficient - Real-world applications need faster learning - Prior experience should help!</a:t>
            </a:r>
          </a:p>
          <a:p>
            <a:pPr lvl="0" indent="0" marL="0">
              <a:buNone/>
            </a:pPr>
            <a:r>
              <a:rPr b="1"/>
              <a:t>Question:</a:t>
            </a:r>
            <a:r>
              <a:rPr/>
              <a:t> &gt; Can we transfer knowledge from previously learned tasks to accelerate learning on new, related tasks?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- Learn to balance a pole (Task A) - Use that knowledge to balance a different pole (Task B)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Our Approach - RL-KS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Reinforcement Learning with Knowledge Shaping</a:t>
            </a:r>
          </a:p>
          <a:p>
            <a:pPr lvl="0" indent="0" marL="0">
              <a:buNone/>
            </a:pPr>
            <a:r>
              <a:rPr b="1"/>
              <a:t>Core Idea:</a:t>
            </a:r>
            <a:r>
              <a:rPr/>
              <a:t> Combine Q-values from source and target tasks</a:t>
            </a:r>
          </a:p>
          <a:p>
            <a:pPr lvl="0" indent="0">
              <a:buNone/>
            </a:pPr>
            <a:r>
              <a:rPr>
                <a:latin typeface="Courier"/>
              </a:rPr>
              <a:t>Q_shaped(s,a) = (1-λ) × Q_target(s,a) + λ × Q_source(s,a)</a:t>
            </a:r>
          </a:p>
          <a:p>
            <a:pPr lvl="0" indent="0" marL="0">
              <a:buNone/>
            </a:pPr>
            <a:r>
              <a:rPr b="1"/>
              <a:t>Components:</a:t>
            </a:r>
            <a:r>
              <a:rPr/>
              <a:t> 1. </a:t>
            </a:r>
            <a:r>
              <a:rPr b="1"/>
              <a:t>Source Task</a:t>
            </a:r>
            <a:r>
              <a:rPr/>
              <a:t>: Pre-trained agent with prior knowledge 2. </a:t>
            </a:r>
            <a:r>
              <a:rPr b="1"/>
              <a:t>Target Task</a:t>
            </a:r>
            <a:r>
              <a:rPr/>
              <a:t>: New task we want to learn 3. </a:t>
            </a:r>
            <a:r>
              <a:rPr b="1"/>
              <a:t>Shaping Weight (λ)</a:t>
            </a:r>
            <a:r>
              <a:rPr/>
              <a:t>: Controls source influence (0-1)</a:t>
            </a:r>
          </a:p>
          <a:p>
            <a:pPr lvl="0" indent="0" marL="0">
              <a:buNone/>
            </a:pPr>
            <a:r>
              <a:rPr b="1"/>
              <a:t>Hypothesis:</a:t>
            </a:r>
            <a:r>
              <a:rPr/>
              <a:t> Knowledge shaping should accelerate learning vs. baseline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Baseline vs RL-KS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Approaches Compared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4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Q-Learning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RL-KS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Learns from scratch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Leverages prior knowledge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assumptions about task similarity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Assumes related source task exists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Simple, robust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Potentially faster convergence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Q-learning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Modified with knowledge shaping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Both use:</a:t>
            </a:r>
            <a:r>
              <a:rPr/>
              <a:t> - ε-greedy exploration - Temporal difference learning - Q-table (tabular methods)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Experimental Setup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Benchmark Environments</a:t>
            </a:r>
          </a:p>
          <a:p>
            <a:pPr lvl="0" indent="0" marL="0">
              <a:buNone/>
            </a:pPr>
            <a:r>
              <a:rPr b="1"/>
              <a:t>1. GridWorld (5×5)</a:t>
            </a:r>
            <a:r>
              <a:rPr/>
              <a:t> - Navigate from start to goal - Avoid obstacles - Source &amp; Target: Different obstacle positions - State space: 25 discrete states - Actions: Up, Down, Left, Right</a:t>
            </a:r>
          </a:p>
          <a:p>
            <a:pPr lvl="0" indent="0" marL="0">
              <a:buNone/>
            </a:pPr>
            <a:r>
              <a:rPr b="1"/>
              <a:t>2. CartPole</a:t>
            </a:r>
            <a:r>
              <a:rPr/>
              <a:t> - Balance pole on moving cart - Source: Coarse discretization (256 states) - Target: Fine discretization (1,296 states) - State space: Position, velocity, angle, angular velocity - Actions: Left, Right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6: Methodology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Training Protocol</a:t>
            </a:r>
          </a:p>
          <a:p>
            <a:pPr lvl="0" indent="0" marL="0">
              <a:buNone/>
            </a:pPr>
            <a:r>
              <a:rPr b="1"/>
              <a:t>Phase 1: Source Task Training</a:t>
            </a:r>
            <a:r>
              <a:rPr/>
              <a:t> - Train agent on source task - 500-1000 episodes - Obtain learned Q-values</a:t>
            </a:r>
          </a:p>
          <a:p>
            <a:pPr lvl="0" indent="0" marL="0">
              <a:buNone/>
            </a:pPr>
            <a:r>
              <a:rPr b="1"/>
              <a:t>Phase 2: Target Task Comparison</a:t>
            </a:r>
            <a:r>
              <a:rPr/>
              <a:t> - Train Baseline RL (from scratch) - Train RL-KS (with source knowledge) - Same hyperparameters for fair comparison</a:t>
            </a:r>
          </a:p>
          <a:p>
            <a:pPr lvl="0" indent="0" marL="0">
              <a:buNone/>
            </a:pPr>
            <a:r>
              <a:rPr b="1"/>
              <a:t>Phase 3: Evaluation</a:t>
            </a:r>
            <a:r>
              <a:rPr/>
              <a:t> - 100 test episodes (greedy policy) - Metrics: reward, success rate, episode length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7: Hyperparameters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Configuration</a:t>
            </a:r>
          </a:p>
          <a:p>
            <a:pPr lvl="0" indent="0" marL="0">
              <a:buNone/>
            </a:pPr>
            <a:r>
              <a:rPr b="1"/>
              <a:t>Learning Parameters:</a:t>
            </a:r>
            <a:r>
              <a:rPr/>
              <a:t> - Learning rate (α): 0.1 - Discount factor (γ): 0.99 - Initial epsilon (ε): 1.0 - Epsilon decay: 0.995 - Minimum epsilon: 0.01</a:t>
            </a:r>
          </a:p>
          <a:p>
            <a:pPr lvl="0" indent="0" marL="0">
              <a:buNone/>
            </a:pPr>
            <a:r>
              <a:rPr b="1"/>
              <a:t>Knowledge Shaping:</a:t>
            </a:r>
            <a:r>
              <a:rPr/>
              <a:t> - GridWorld: λ = 0.5 (high task similarity) - CartPole: λ = 0.3 (lower similarity)</a:t>
            </a:r>
          </a:p>
          <a:p>
            <a:pPr lvl="0" indent="0" marL="0">
              <a:buNone/>
            </a:pPr>
            <a:r>
              <a:rPr b="1"/>
              <a:t>Training Episodes:</a:t>
            </a:r>
            <a:r>
              <a:rPr/>
              <a:t> - GridWorld: 500 episodes - CartPole: 1,000 episodes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8: Results - GridWorld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GridWorld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RL-KS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Winner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Final Reward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91.98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91.92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93.00 ± 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93.00 ± 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Success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Path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Findings:</a:t>
            </a:r>
            <a:r>
              <a:rPr/>
              <a:t> ✓ Both converged to optimal policy ✓ 100% success rate ✓ Task relatively simple ✓ Knowledge transfer worked but advantage unclear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9: Results - CartPole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CartPole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RL-KS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Winner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Final Reward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111.36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112.66 ± 6.67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72.18 ± 12.89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Success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Episode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Training Reward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82,868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40,455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Baseline 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Findings:</a:t>
            </a:r>
            <a:r>
              <a:rPr/>
              <a:t> ✗ Baseline significantly outperformed RL-KS ✗ Higher variance in RL-KS ✗ Evidence of </a:t>
            </a:r>
            <a:r>
              <a:rPr b="1"/>
              <a:t>negative transfer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10: Learning Curves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Training Progress Over Time</a:t>
            </a:r>
          </a:p>
          <a:p>
            <a:pPr lvl="0" indent="0" marL="0">
              <a:buNone/>
            </a:pPr>
            <a:r>
              <a:rPr b="1"/>
              <a:t>GridWorld:</a:t>
            </a:r>
            <a:r>
              <a:rPr/>
              <a:t> - Both agents: smooth, consistent improvement - Convergence around episode 200 - Similar trajectories</a:t>
            </a:r>
          </a:p>
          <a:p>
            <a:pPr lvl="0" indent="0" marL="0">
              <a:buNone/>
            </a:pPr>
            <a:r>
              <a:rPr b="1"/>
              <a:t>CartPole:</a:t>
            </a:r>
            <a:r>
              <a:rPr/>
              <a:t> - Baseline: steady improvement - RL-KS: slower learning, lower final performance - Divergence visible from early episodes</a:t>
            </a:r>
          </a:p>
          <a:p>
            <a:pPr lvl="0" indent="0" marL="0">
              <a:buNone/>
            </a:pPr>
            <a:r>
              <a:rPr/>
              <a:t>[Reference: See </a:t>
            </a:r>
            <a:r>
              <a:rPr>
                <a:latin typeface="Courier"/>
              </a:rPr>
              <a:t>results/gridworld_comparison.png</a:t>
            </a:r>
            <a:r>
              <a:rPr/>
              <a:t> and </a:t>
            </a:r>
            <a:r>
              <a:rPr>
                <a:latin typeface="Courier"/>
              </a:rPr>
              <a:t>results/cartpole_comparison.png</a:t>
            </a:r>
            <a:r>
              <a:rPr/>
              <a:t>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11: Why Did CartPole Fail?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Negative Transfer Analysis</a:t>
            </a:r>
          </a:p>
          <a:p>
            <a:pPr lvl="0" indent="0" marL="0">
              <a:buNone/>
            </a:pPr>
            <a:r>
              <a:rPr b="1"/>
              <a:t>Root Cause: Representation Mismatch</a:t>
            </a:r>
          </a:p>
          <a:p>
            <a:pPr lvl="0" indent="-342900" marL="342900">
              <a:buAutoNum type="arabicPeriod"/>
            </a:pPr>
            <a:r>
              <a:rPr b="1"/>
              <a:t>Different Discretizations</a:t>
            </a:r>
          </a:p>
          <a:p>
            <a:pPr lvl="1"/>
            <a:r>
              <a:rPr/>
              <a:t>Source: 4×4×4×4 bins (256 states)</a:t>
            </a:r>
          </a:p>
          <a:p>
            <a:pPr lvl="1"/>
            <a:r>
              <a:rPr/>
              <a:t>Target: 6×6×6×6 bins (1,296 states)</a:t>
            </a:r>
          </a:p>
          <a:p>
            <a:pPr lvl="1"/>
            <a:r>
              <a:rPr/>
              <a:t>Incompatible Q-tables!</a:t>
            </a:r>
          </a:p>
          <a:p>
            <a:pPr lvl="0" indent="-342900" marL="342900">
              <a:buAutoNum type="arabicPeriod"/>
            </a:pPr>
            <a:r>
              <a:rPr b="1"/>
              <a:t>Misleading Guidance</a:t>
            </a:r>
          </a:p>
          <a:p>
            <a:pPr lvl="1"/>
            <a:r>
              <a:rPr/>
              <a:t>Source Q-values didn’t map correctly</a:t>
            </a:r>
          </a:p>
          <a:p>
            <a:pPr lvl="1"/>
            <a:r>
              <a:rPr/>
              <a:t>Shaping pulled agent toward suboptimal actions</a:t>
            </a:r>
          </a:p>
          <a:p>
            <a:pPr lvl="1"/>
            <a:r>
              <a:rPr/>
              <a:t>Interference with target learning</a:t>
            </a:r>
          </a:p>
          <a:p>
            <a:pPr lvl="0" indent="-342900" marL="342900">
              <a:buAutoNum type="arabicPeriod"/>
            </a:pPr>
            <a:r>
              <a:rPr b="1"/>
              <a:t>Lesson Learned</a:t>
            </a:r>
          </a:p>
          <a:p>
            <a:pPr lvl="1"/>
            <a:r>
              <a:rPr/>
              <a:t>Task similarity ≠ environment similarity</a:t>
            </a:r>
          </a:p>
          <a:p>
            <a:pPr lvl="1"/>
            <a:r>
              <a:rPr/>
              <a:t>State representation compatibility is critical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12: Key Insights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 indent="0" marL="0">
              <a:buNone/>
            </a:pPr>
            <a:r>
              <a:rPr b="1"/>
              <a:t>✓ Successes:</a:t>
            </a:r>
            <a:r>
              <a:rPr/>
              <a:t> 1. Knowledge transfer works when tasks are truly similar 2. Implemented robust, reusable framework 3. Both algorithms work as expected</a:t>
            </a:r>
          </a:p>
          <a:p>
            <a:pPr lvl="0" indent="0" marL="0">
              <a:buNone/>
            </a:pPr>
            <a:r>
              <a:rPr b="1"/>
              <a:t>✗ Challenges:</a:t>
            </a:r>
            <a:r>
              <a:rPr/>
              <a:t> 1. Representation compatibility is critical 2. Even “similar” tasks can fail to transfer 3. Negative transfer is real and significant</a:t>
            </a:r>
          </a:p>
          <a:p>
            <a:pPr lvl="0" indent="0" marL="0">
              <a:buNone/>
            </a:pPr>
            <a:r>
              <a:rPr b="1"/>
              <a:t>💡 Critical Factors:</a:t>
            </a:r>
            <a:r>
              <a:rPr/>
              <a:t> - State-action space alignment - Task similarity beyond surface level - Careful shaping weight tuning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13: Comparison with Literature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Results vs. Existing Research</a:t>
            </a:r>
          </a:p>
          <a:p>
            <a:pPr lvl="0" indent="0" marL="0">
              <a:buNone/>
            </a:pPr>
            <a:r>
              <a:rPr b="1"/>
              <a:t>Consistent with:</a:t>
            </a:r>
            <a:r>
              <a:rPr/>
              <a:t> - Task similarity principle (Taylor &amp; Stone, 2009) - Negative transfer risks (Torrey &amp; Shavlik, 2010) - Representation importance (Gupta et al., 2017)</a:t>
            </a:r>
          </a:p>
          <a:p>
            <a:pPr lvl="0" indent="0" marL="0">
              <a:buNone/>
            </a:pPr>
            <a:r>
              <a:rPr b="1"/>
              <a:t>Novel Contribution:</a:t>
            </a:r>
            <a:r>
              <a:rPr/>
              <a:t> - Explicit demonstration of discretization mismatch impact - Quantitative evidence on same environment, different representations - Practical guidelines for practitioners</a:t>
            </a:r>
          </a:p>
          <a:p>
            <a:pPr lvl="0" indent="0" marL="0">
              <a:buNone/>
            </a:pPr>
            <a:r>
              <a:rPr b="1"/>
              <a:t>Validates:</a:t>
            </a:r>
            <a:r>
              <a:rPr/>
              <a:t> &gt; “Successful transfer requires compatible representations”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14: 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Didn’t Do (Yet)</a:t>
            </a:r>
          </a:p>
          <a:p>
            <a:pPr lvl="0" indent="0" marL="0">
              <a:buNone/>
            </a:pPr>
            <a:r>
              <a:rPr b="1"/>
              <a:t>Technical:</a:t>
            </a:r>
            <a:r>
              <a:rPr/>
              <a:t> - Tabular Q-learning only (not deep RL) - Simple knowledge shaping (no adaptive mechanisms) - Single source task (no multi-source transfer) - Limited environments (2 domains)</a:t>
            </a:r>
          </a:p>
          <a:p>
            <a:pPr lvl="0" indent="0" marL="0">
              <a:buNone/>
            </a:pPr>
            <a:r>
              <a:rPr b="1"/>
              <a:t>Experimental:</a:t>
            </a:r>
            <a:r>
              <a:rPr/>
              <a:t> - Single random seed (no statistical robustness) - Fixed hyperparameters (limited exploration) - Simple convergence metrics - No ablation studies on λ</a:t>
            </a:r>
          </a:p>
          <a:p>
            <a:pPr lvl="0" indent="0" marL="0">
              <a:buNone/>
            </a:pPr>
            <a:r>
              <a:rPr b="1"/>
              <a:t>Future Work:</a:t>
            </a:r>
            <a:r>
              <a:rPr/>
              <a:t> Address these to strengthen conclusions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15: Future Directions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Where to Go From Here</a:t>
            </a:r>
          </a:p>
          <a:p>
            <a:pPr lvl="0" indent="0" marL="0">
              <a:buNone/>
            </a:pPr>
            <a:r>
              <a:rPr b="1"/>
              <a:t>Immediate Improvements:</a:t>
            </a:r>
            <a:r>
              <a:rPr/>
              <a:t> 1. </a:t>
            </a:r>
            <a:r>
              <a:rPr b="1"/>
              <a:t>State Mapping Functions</a:t>
            </a:r>
            <a:r>
              <a:rPr/>
              <a:t> - Interpolate between different discretizations - Learn mappings via supervised learning</a:t>
            </a:r>
          </a:p>
          <a:p>
            <a:pPr lvl="0" indent="-342900" marL="342900">
              <a:buAutoNum startAt="2" type="arabicPeriod"/>
            </a:pPr>
            <a:r>
              <a:rPr b="1"/>
              <a:t>Adaptive Shaping</a:t>
            </a:r>
          </a:p>
          <a:p>
            <a:pPr lvl="1"/>
            <a:r>
              <a:rPr/>
              <a:t>Dynamic λ adjustment based on performance</a:t>
            </a:r>
          </a:p>
          <a:p>
            <a:pPr lvl="1"/>
            <a:r>
              <a:rPr/>
              <a:t>Decay shaping influence over time</a:t>
            </a:r>
          </a:p>
          <a:p>
            <a:pPr lvl="0" indent="-342900" marL="342900">
              <a:buAutoNum startAt="2" type="arabicPeriod"/>
            </a:pPr>
            <a:r>
              <a:rPr b="1"/>
              <a:t>Better Evaluation</a:t>
            </a:r>
          </a:p>
          <a:p>
            <a:pPr lvl="1"/>
            <a:r>
              <a:rPr/>
              <a:t>Multiple random seeds</a:t>
            </a:r>
          </a:p>
          <a:p>
            <a:pPr lvl="1"/>
            <a:r>
              <a:rPr/>
              <a:t>Statistical significance testing</a:t>
            </a:r>
          </a:p>
          <a:p>
            <a:pPr lvl="1"/>
            <a:r>
              <a:rPr/>
              <a:t>Sample efficiency analysis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16: Future Directions (cont.)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Advanced Extensions</a:t>
            </a:r>
          </a:p>
          <a:p>
            <a:pPr lvl="0" indent="0" marL="0">
              <a:buNone/>
            </a:pPr>
            <a:r>
              <a:rPr b="1"/>
              <a:t>Deep RL:</a:t>
            </a:r>
            <a:r>
              <a:rPr/>
              <a:t> - Deep Q-Networks (DQN) - Progressive Neural Networks - Shared representations</a:t>
            </a:r>
          </a:p>
          <a:p>
            <a:pPr lvl="0" indent="0" marL="0">
              <a:buNone/>
            </a:pPr>
            <a:r>
              <a:rPr b="1"/>
              <a:t>Alternative Transfer Methods:</a:t>
            </a:r>
            <a:r>
              <a:rPr/>
              <a:t> - Policy distillation - Successor representations - Meta-learning (MAML)</a:t>
            </a:r>
          </a:p>
          <a:p>
            <a:pPr lvl="0" indent="0" marL="0">
              <a:buNone/>
            </a:pPr>
            <a:r>
              <a:rPr b="1"/>
              <a:t>More Environments:</a:t>
            </a:r>
            <a:r>
              <a:rPr/>
              <a:t> - MuJoCo robotics - Atari games - Continuous control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17: Practical Takeaways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Guidelines for Practitioners</a:t>
            </a:r>
          </a:p>
          <a:p>
            <a:pPr lvl="0" indent="0" marL="0">
              <a:buNone/>
            </a:pPr>
            <a:r>
              <a:rPr b="1"/>
              <a:t>When to Use Knowledge Transfer:</a:t>
            </a:r>
            <a:r>
              <a:rPr/>
              <a:t> ✓ Tasks have compatible state-action representations ✓ High degree of structural similarity ✓ Source task well-learned ✓ Computational resources allow pre-training</a:t>
            </a:r>
          </a:p>
          <a:p>
            <a:pPr lvl="0" indent="0" marL="0">
              <a:buNone/>
            </a:pPr>
            <a:r>
              <a:rPr b="1"/>
              <a:t>When to Avoid:</a:t>
            </a:r>
            <a:r>
              <a:rPr/>
              <a:t> ✗ Different state representations ✗ Uncertain task similarity ✗ Strong baseline already works well ✗ Risk of negative transfer too high</a:t>
            </a:r>
          </a:p>
          <a:p>
            <a:pPr lvl="0" indent="0" marL="0">
              <a:buNone/>
            </a:pPr>
            <a:r>
              <a:rPr b="1"/>
              <a:t>General Advice:</a:t>
            </a:r>
            <a:r>
              <a:rPr/>
              <a:t> - Always compare against strong baseline - Start with conservative shaping weights - Monitor for negative transfer - Validate task similarity carefully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18: Contributions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Delivered</a:t>
            </a:r>
          </a:p>
          <a:p>
            <a:pPr lvl="0" indent="0" marL="0">
              <a:buNone/>
            </a:pPr>
            <a:r>
              <a:rPr b="1"/>
              <a:t>1. Complete Implementation</a:t>
            </a:r>
            <a:r>
              <a:rPr/>
              <a:t> - Baseline Q-learning agent (103 lines) - RL-KS agent (178 lines) - Two environments (291 lines) - Training framework (224 lines) - Total: ~1,134 lines of documented Python code</a:t>
            </a:r>
          </a:p>
          <a:p>
            <a:pPr lvl="0" indent="0" marL="0">
              <a:buNone/>
            </a:pPr>
            <a:r>
              <a:rPr b="1"/>
              <a:t>2. Comprehensive Evaluation</a:t>
            </a:r>
            <a:r>
              <a:rPr/>
              <a:t> - Two benchmark environments - Multiple performance metrics - Detailed visualizations - Statistical analysis</a:t>
            </a:r>
          </a:p>
          <a:p>
            <a:pPr lvl="0" indent="0" marL="0">
              <a:buNone/>
            </a:pPr>
            <a:r>
              <a:rPr b="1"/>
              <a:t>3. Documentation</a:t>
            </a:r>
            <a:r>
              <a:rPr/>
              <a:t> - 30+ page technical report - Analysis Jupyter notebook - Presentation materials - Reproducible experiments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19: Conclusions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Main Findings</a:t>
            </a:r>
          </a:p>
          <a:p>
            <a:pPr lvl="0" indent="0" marL="0">
              <a:buNone/>
            </a:pPr>
            <a:r>
              <a:rPr b="1"/>
              <a:t>1. Representation Compatibility is Critical</a:t>
            </a:r>
            <a:r>
              <a:rPr/>
              <a:t> - Most important factor for successful transfer - Same environment ≠ compatible representations</a:t>
            </a:r>
          </a:p>
          <a:p>
            <a:pPr lvl="0" indent="0" marL="0">
              <a:buNone/>
            </a:pPr>
            <a:r>
              <a:rPr b="1"/>
              <a:t>2. Knowledge Shaping Can Help or Hurt</a:t>
            </a:r>
            <a:r>
              <a:rPr/>
              <a:t> - GridWorld: Worked well (compatible tasks) - CartPole: Caused negative transfer (incompatible)</a:t>
            </a:r>
          </a:p>
          <a:p>
            <a:pPr lvl="0" indent="0" marL="0">
              <a:buNone/>
            </a:pPr>
            <a:r>
              <a:rPr b="1"/>
              <a:t>3. Baseline RL is Robust</a:t>
            </a:r>
            <a:r>
              <a:rPr/>
              <a:t> - Learning from scratch is surprisingly effective - Transfer must offer clear benefits</a:t>
            </a:r>
          </a:p>
          <a:p>
            <a:pPr lvl="0" indent="0" marL="0">
              <a:buNone/>
            </a:pPr>
            <a:r>
              <a:rPr b="1"/>
              <a:t>4. Context Matters</a:t>
            </a:r>
            <a:r>
              <a:rPr/>
              <a:t> - Success depends on task details - Careful analysis before attempting transfer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20: Final Thoughts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Lessons Learned</a:t>
            </a:r>
          </a:p>
          <a:p>
            <a:pPr lvl="0" indent="0" marL="0">
              <a:buNone/>
            </a:pPr>
            <a:r>
              <a:rPr b="1"/>
              <a:t>For Science:</a:t>
            </a:r>
            <a:r>
              <a:rPr/>
              <a:t> - Transfer learning is not a silver bullet - Negative transfer deserves more attention - Representation learning is key to robust transfer</a:t>
            </a:r>
          </a:p>
          <a:p>
            <a:pPr lvl="0" indent="0" marL="0">
              <a:buNone/>
            </a:pPr>
            <a:r>
              <a:rPr b="1"/>
              <a:t>For Engineering:</a:t>
            </a:r>
            <a:r>
              <a:rPr/>
              <a:t> - Always maintain strong baselines - Validate assumptions empirically - Design for compatibility from the start</a:t>
            </a:r>
          </a:p>
          <a:p>
            <a:pPr lvl="0" indent="0" marL="0">
              <a:buNone/>
            </a:pPr>
            <a:r>
              <a:rPr b="1"/>
              <a:t>Quote to Remember:</a:t>
            </a:r>
            <a:r>
              <a:rPr/>
              <a:t> &gt; “Knowledge transfer is powerful when done right, but getting it right requires careful consideration of task similarity and representation compatibility.”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21: Acknowledgments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Team Contributions:</a:t>
            </a:r>
            <a:r>
              <a:rPr/>
              <a:t> - Charith Kapuluru: Literature review &amp; problem statement - Bhargav Reddy Alimili: Algorithm implementation - Karthik Saraf: Simulation experiments - Sreekanth Taduru: Performance evaluation - Himesh Chander Addiga: Evaluation &amp; documentation</a:t>
            </a:r>
          </a:p>
          <a:p>
            <a:pPr lvl="0" indent="0" marL="0">
              <a:buNone/>
            </a:pPr>
            <a:r>
              <a:rPr b="1"/>
              <a:t>Tools &amp; Resources:</a:t>
            </a:r>
            <a:r>
              <a:rPr/>
              <a:t> - OpenAI Gymnasium - Python scientific stack (NumPy, Matplotlib) - Course materials and references</a:t>
            </a:r>
          </a:p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22: References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Papers</a:t>
            </a:r>
          </a:p>
          <a:p>
            <a:pPr lvl="0" indent="-342900" marL="342900">
              <a:buAutoNum type="arabicPeriod"/>
            </a:pPr>
            <a:r>
              <a:rPr b="1"/>
              <a:t>Sutton &amp; Barto (2018)</a:t>
            </a:r>
            <a:r>
              <a:rPr/>
              <a:t>: Reinforcement Learning: An Introduction</a:t>
            </a:r>
          </a:p>
          <a:p>
            <a:pPr lvl="1"/>
            <a:r>
              <a:rPr/>
              <a:t>Foundation for Q-learning</a:t>
            </a:r>
          </a:p>
          <a:p>
            <a:pPr lvl="0" indent="-342900" marL="342900">
              <a:buAutoNum type="arabicPeriod"/>
            </a:pPr>
            <a:r>
              <a:rPr b="1"/>
              <a:t>Taylor &amp; Stone (2009)</a:t>
            </a:r>
            <a:r>
              <a:rPr/>
              <a:t>: Transfer Learning for RL Domains: A Survey</a:t>
            </a:r>
          </a:p>
          <a:p>
            <a:pPr lvl="1"/>
            <a:r>
              <a:rPr/>
              <a:t>Comprehensive transfer learning overview</a:t>
            </a:r>
          </a:p>
          <a:p>
            <a:pPr lvl="0" indent="-342900" marL="342900">
              <a:buAutoNum type="arabicPeriod"/>
            </a:pPr>
            <a:r>
              <a:rPr b="1"/>
              <a:t>Ng et al. (1999)</a:t>
            </a:r>
            <a:r>
              <a:rPr/>
              <a:t>: Policy Invariance Under Reward Transformations</a:t>
            </a:r>
          </a:p>
          <a:p>
            <a:pPr lvl="1"/>
            <a:r>
              <a:rPr/>
              <a:t>Theoretical basis for reward shaping</a:t>
            </a:r>
          </a:p>
          <a:p>
            <a:pPr lvl="0" indent="-342900" marL="342900">
              <a:buAutoNum type="arabicPeriod"/>
            </a:pPr>
            <a:r>
              <a:rPr b="1"/>
              <a:t>Brys et al. (2015)</a:t>
            </a:r>
            <a:r>
              <a:rPr/>
              <a:t>: Reinforcement Learning from Demonstration Through Shaping</a:t>
            </a:r>
          </a:p>
          <a:p>
            <a:pPr lvl="1"/>
            <a:r>
              <a:rPr/>
              <a:t>Practical shaping methods</a:t>
            </a:r>
          </a:p>
          <a:p>
            <a:pPr lvl="0" indent="-342900" marL="342900">
              <a:buAutoNum type="arabicPeriod"/>
            </a:pPr>
            <a:r>
              <a:rPr b="1"/>
              <a:t>OpenAI Gymnasium Documentation</a:t>
            </a:r>
          </a:p>
          <a:p>
            <a:pPr lvl="1"/>
            <a:r>
              <a:rPr/>
              <a:t>Environment implementations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23: Appendix - Implementation Details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RL_Knowledge_Shaping/
├── src/
│   ├── q_learning_agent.py       # Baseline
│   ├── rl_ks_agent.py             # Knowledge shaping
│   ├── gridworld.py               # Environment 1
│   ├── cartpole_wrapper.py        # Environment 2
│   └── trainer.py                 # Training utilities
├── experiments/
│   ├── gridworld_experiment.py
│   └── cartpole_experiment.py
├── results/                       # Plots &amp; data
├── docs/                          # Report &amp; slides
└── RL_KS_Analysis.ipynb          # Analysis notebook</a:t>
            </a:r>
          </a:p>
          <a:p>
            <a:pPr lvl="0" indent="0" marL="0">
              <a:buNone/>
            </a:pPr>
            <a:r>
              <a:rPr b="1"/>
              <a:t>Repository:</a:t>
            </a:r>
            <a:r>
              <a:rPr/>
              <a:t> Complete, documented, reproducible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24: Appendix - Q-Learning Refresher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Algorithm</a:t>
            </a:r>
          </a:p>
          <a:p>
            <a:pPr lvl="0" indent="0" marL="0">
              <a:buNone/>
            </a:pPr>
            <a:r>
              <a:rPr b="1"/>
              <a:t>Q-Learning Update Rule:</a:t>
            </a:r>
          </a:p>
          <a:p>
            <a:pPr lvl="0" indent="0">
              <a:buNone/>
            </a:pPr>
            <a:r>
              <a:rPr>
                <a:latin typeface="Courier"/>
              </a:rPr>
              <a:t>Q(s,a) ← Q(s,a) + α[r + γ max Q(s',a') - Q(s,a)]
                      a'</a:t>
            </a:r>
          </a:p>
          <a:p>
            <a:pPr lvl="0" indent="0" marL="0">
              <a:buNone/>
            </a:pPr>
            <a:r>
              <a:rPr b="1"/>
              <a:t>Components:</a:t>
            </a:r>
            <a:r>
              <a:rPr/>
              <a:t> - </a:t>
            </a:r>
            <a:r>
              <a:rPr b="1"/>
              <a:t>Q(s,a)</a:t>
            </a:r>
            <a:r>
              <a:rPr/>
              <a:t>: Action-value function - </a:t>
            </a:r>
            <a:r>
              <a:rPr b="1"/>
              <a:t>α</a:t>
            </a:r>
            <a:r>
              <a:rPr/>
              <a:t>: Learning rate (how much to update) - </a:t>
            </a:r>
            <a:r>
              <a:rPr b="1"/>
              <a:t>γ</a:t>
            </a:r>
            <a:r>
              <a:rPr/>
              <a:t>: Discount factor (future vs immediate reward) - </a:t>
            </a:r>
            <a:r>
              <a:rPr b="1"/>
              <a:t>r</a:t>
            </a:r>
            <a:r>
              <a:rPr/>
              <a:t>: Immediate reward - </a:t>
            </a:r>
            <a:r>
              <a:rPr b="1"/>
              <a:t>s’</a:t>
            </a:r>
            <a:r>
              <a:rPr/>
              <a:t>: Next state</a:t>
            </a:r>
          </a:p>
          <a:p>
            <a:pPr lvl="0" indent="0" marL="0">
              <a:buNone/>
            </a:pPr>
            <a:r>
              <a:rPr b="1"/>
              <a:t>ε-greedy:</a:t>
            </a:r>
            <a:r>
              <a:rPr/>
              <a:t> Explore with probability ε, exploit otherwise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25: Appendix - Knowledge Shaping Formula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Math Behind RL-KS</a:t>
            </a:r>
          </a:p>
          <a:p>
            <a:pPr lvl="0" indent="0" marL="0">
              <a:buNone/>
            </a:pPr>
            <a:r>
              <a:rPr b="1"/>
              <a:t>Shaping Q-values:</a:t>
            </a:r>
          </a:p>
          <a:p>
            <a:pPr lvl="0" indent="0">
              <a:buNone/>
            </a:pPr>
            <a:r>
              <a:rPr>
                <a:latin typeface="Courier"/>
              </a:rPr>
              <a:t>Q_shaped(s,a) = (1-λ) Q_target(s,a) + λ Q_source(s,a)</a:t>
            </a:r>
          </a:p>
          <a:p>
            <a:pPr lvl="0" indent="0" marL="0">
              <a:buNone/>
            </a:pPr>
            <a:r>
              <a:rPr b="1"/>
              <a:t>Action Selection:</a:t>
            </a:r>
          </a:p>
          <a:p>
            <a:pPr lvl="0" indent="0">
              <a:buNone/>
            </a:pPr>
            <a:r>
              <a:rPr>
                <a:latin typeface="Courier"/>
              </a:rPr>
              <a:t>a* = argmax Q_shaped(s,a)
         a</a:t>
            </a:r>
          </a:p>
          <a:p>
            <a:pPr lvl="0" indent="0" marL="0">
              <a:buNone/>
            </a:pPr>
            <a:r>
              <a:rPr b="1"/>
              <a:t>Q-Learning Update:</a:t>
            </a:r>
          </a:p>
          <a:p>
            <a:pPr lvl="0" indent="0">
              <a:buNone/>
            </a:pPr>
            <a:r>
              <a:rPr>
                <a:latin typeface="Courier"/>
              </a:rPr>
              <a:t>target = r + γ max Q_shaped(s',a')
              a'
Q_target(s,a) ← Q_target(s,a) + α[target - Q_target(s,a)]</a:t>
            </a:r>
          </a:p>
          <a:p>
            <a:pPr lvl="0" indent="0" marL="0">
              <a:buNone/>
            </a:pPr>
            <a:r>
              <a:rPr b="1"/>
              <a:t>Key:</a:t>
            </a:r>
            <a:r>
              <a:rPr/>
              <a:t> Only target Q-values are updated; source Q-values are fixed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26: Appendix - Experiment Reproducibility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to Run</a:t>
            </a:r>
          </a:p>
          <a:p>
            <a:pPr lvl="0" indent="0" marL="0">
              <a:buNone/>
            </a:pPr>
            <a:r>
              <a:rPr b="1"/>
              <a:t>Requirements:</a:t>
            </a:r>
            <a:r>
              <a:rPr/>
              <a:t> - Python 3.13+ - gymnasium, numpy, matplotlib</a:t>
            </a:r>
          </a:p>
          <a:p>
            <a:pPr lvl="0" indent="0" marL="0">
              <a:buNone/>
            </a:pPr>
            <a:r>
              <a:rPr b="1"/>
              <a:t>Setup: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RL_Knowledge_Shaping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venv venv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 venv/bin/activate</a:t>
            </a:r>
            <a:br/>
            <a:r>
              <a:rPr>
                <a:latin typeface="Courier"/>
              </a:rPr>
              <a:t>pip install gymnasium numpy matplotlib</a:t>
            </a:r>
          </a:p>
          <a:p>
            <a:pPr lvl="0" indent="0" marL="0">
              <a:buNone/>
            </a:pPr>
            <a:r>
              <a:rPr b="1"/>
              <a:t>Run Experiments: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experiments/gridworld_experiment.py</a:t>
            </a:r>
            <a:br/>
            <a:r>
              <a:rPr>
                <a:latin typeface="Courier"/>
              </a:rPr>
              <a:t>python experiments/cartpole_experiment.py</a:t>
            </a:r>
          </a:p>
          <a:p>
            <a:pPr lvl="0" indent="0" marL="0">
              <a:buNone/>
            </a:pPr>
            <a:r>
              <a:rPr b="1"/>
              <a:t>Results:</a:t>
            </a:r>
            <a:r>
              <a:rPr/>
              <a:t> Saved to </a:t>
            </a:r>
            <a:r>
              <a:rPr>
                <a:latin typeface="Courier"/>
              </a:rPr>
              <a:t>results/</a:t>
            </a:r>
            <a:r>
              <a:rPr/>
              <a:t> directory</a:t>
            </a:r>
          </a:p>
          <a:p>
            <a:pPr lvl="0" indent="0" marL="0">
              <a:buNone/>
            </a:pPr>
            <a:r>
              <a:rPr b="1"/>
              <a:t>Random Seed:</a:t>
            </a:r>
            <a:r>
              <a:rPr/>
              <a:t> 42 (for reproducibility)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End of Presentation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- Project repository: Available upon request - Team members: [Contact information]</a:t>
            </a:r>
          </a:p>
          <a:p>
            <a:pPr lvl="0" indent="0" marL="0">
              <a:buNone/>
            </a:pPr>
            <a:r>
              <a:rPr b="1"/>
              <a:t>Full Report &amp; Code:</a:t>
            </a:r>
            <a:r>
              <a:rPr/>
              <a:t> - Technical report: </a:t>
            </a:r>
            <a:r>
              <a:rPr>
                <a:latin typeface="Courier"/>
              </a:rPr>
              <a:t>docs/Final_Report.md</a:t>
            </a:r>
            <a:r>
              <a:rPr/>
              <a:t> - Analysis notebook: </a:t>
            </a:r>
            <a:r>
              <a:rPr>
                <a:latin typeface="Courier"/>
              </a:rPr>
              <a:t>RL_KS_Analysis.ipynb</a:t>
            </a:r>
            <a:r>
              <a:rPr/>
              <a:t> - Source code: </a:t>
            </a:r>
            <a:r>
              <a:rPr>
                <a:latin typeface="Courier"/>
              </a:rPr>
              <a:t>src/</a:t>
            </a:r>
            <a:r>
              <a:rPr/>
              <a:t> directory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Slides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GridWorld Visualization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Environment Layout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Task:          Target Task:
Start → [0,0]         Start → [0,0]
Goal  → [4,4]         Goal  → [4,4]
Obstacles:            Obstacles:
  (1,1)                 (1,2)
  (2,2)                 (2,3)
  (3,3)                 (3,1)</a:t>
            </a:r>
          </a:p>
          <a:p>
            <a:pPr lvl="0" indent="0" marL="0">
              <a:buNone/>
            </a:pPr>
            <a:r>
              <a:rPr b="1"/>
              <a:t>Similarity:</a:t>
            </a:r>
            <a:r>
              <a:rPr/>
              <a:t> High structural similarity, different obstacle positions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CartPole Discretization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State Space Comparison</a:t>
            </a:r>
          </a:p>
          <a:p>
            <a:pPr lvl="0" indent="0" marL="0">
              <a:buNone/>
            </a:pPr>
            <a:r>
              <a:rPr b="1"/>
              <a:t>Source (Coarse):</a:t>
            </a:r>
            <a:r>
              <a:rPr/>
              <a:t> 4 bins per dimension - Cart position: 4 bins - Cart velocity: 4 bins - Pole angle: 4 bins - Pole angular velocity: 4 bins - </a:t>
            </a:r>
            <a:r>
              <a:rPr b="1"/>
              <a:t>Total: 256 states</a:t>
            </a:r>
          </a:p>
          <a:p>
            <a:pPr lvl="0" indent="0" marL="0">
              <a:buNone/>
            </a:pPr>
            <a:r>
              <a:rPr b="1"/>
              <a:t>Target (Fine):</a:t>
            </a:r>
            <a:r>
              <a:rPr/>
              <a:t> 6 bins per dimension - Cart position: 6 bins - Cart velocity: 6 bins - Pole angle: 6 bins - Pole angular velocity: 6 bins - </a:t>
            </a:r>
            <a:r>
              <a:rPr b="1"/>
              <a:t>Total: 1,296 states</a:t>
            </a:r>
          </a:p>
          <a:p>
            <a:pPr lvl="0" indent="0" marL="0">
              <a:buNone/>
            </a:pPr>
            <a:r>
              <a:rPr b="1"/>
              <a:t>Issue:</a:t>
            </a:r>
            <a:r>
              <a:rPr/>
              <a:t> 256 → 1,296 mapping is non-trivial!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Hyperparameter Sensitivity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Informal Observations</a:t>
            </a:r>
          </a:p>
          <a:p>
            <a:pPr lvl="0" indent="0" marL="0">
              <a:buNone/>
            </a:pPr>
            <a:r>
              <a:rPr b="1"/>
              <a:t>Learning Rate (α):</a:t>
            </a:r>
            <a:r>
              <a:rPr/>
              <a:t> - 0.1: Good balance ✓ - 0.5: Unstable ✗ - 0.01: Too slow ✗</a:t>
            </a:r>
          </a:p>
          <a:p>
            <a:pPr lvl="0" indent="0" marL="0">
              <a:buNone/>
            </a:pPr>
            <a:r>
              <a:rPr b="1"/>
              <a:t>Shaping Weight (λ):</a:t>
            </a:r>
            <a:r>
              <a:rPr/>
              <a:t> - Higher → more source influence - GridWorld: 0.5 worked well (high similarity) - CartPole: 0.3 still too high (low similarity)</a:t>
            </a:r>
          </a:p>
          <a:p>
            <a:pPr lvl="0" indent="0" marL="0">
              <a:buNone/>
            </a:pPr>
            <a:r>
              <a:rPr b="1"/>
              <a:t>Epsilon Decay:</a:t>
            </a:r>
            <a:r>
              <a:rPr/>
              <a:t> - 0.995: Good exploration-exploitation trade-off ✓ - 0.99: Too fast ✗ - 0.999: Too slow ✗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Statistical Details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Variance</a:t>
            </a:r>
          </a:p>
          <a:p>
            <a:pPr lvl="0" indent="0" marL="0">
              <a:buNone/>
            </a:pPr>
            <a:r>
              <a:rPr b="1"/>
              <a:t>GridWorld:</a:t>
            </a:r>
            <a:r>
              <a:rPr/>
              <a:t> - Low variance in both agents - Both converge to optimum - Standard deviation ≈ 0</a:t>
            </a:r>
          </a:p>
          <a:p>
            <a:pPr lvl="0" indent="0" marL="0">
              <a:buNone/>
            </a:pPr>
            <a:r>
              <a:rPr b="1"/>
              <a:t>CartPole:</a:t>
            </a:r>
            <a:r>
              <a:rPr/>
              <a:t> - Baseline: σ = 6.67 (stable) - RL-KS: σ = 12.89 (unstable) - Higher variance indicates learning difficulty</a:t>
            </a:r>
          </a:p>
          <a:p>
            <a:pPr lvl="0" indent="0" marL="0">
              <a:buNone/>
            </a:pPr>
            <a:r>
              <a:rPr b="1"/>
              <a:t>Interpretation:</a:t>
            </a:r>
            <a:r>
              <a:rPr/>
              <a:t> - Source knowledge introduced noise - Conflicting signals from source and target - Uncertainty in action selection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Negative Transfer Literature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Related Findings</a:t>
            </a:r>
          </a:p>
          <a:p>
            <a:pPr lvl="0" indent="0" marL="0">
              <a:buNone/>
            </a:pPr>
            <a:r>
              <a:rPr b="1"/>
              <a:t>Negative Transfer (Torrey &amp; Shavlik, 2010):</a:t>
            </a:r>
            <a:r>
              <a:rPr/>
              <a:t> &gt; “Transfer can hurt performance when source and target tasks are insufficiently similar”</a:t>
            </a:r>
          </a:p>
          <a:p>
            <a:pPr lvl="0" indent="0" marL="0">
              <a:buNone/>
            </a:pPr>
            <a:r>
              <a:rPr b="1"/>
              <a:t>Our Contribution:</a:t>
            </a:r>
            <a:r>
              <a:rPr/>
              <a:t> - Demonstrated in same environment, different discretizations - Quantified performance degradation (48.8% gap) - Identified representation mismatch as root cause</a:t>
            </a:r>
          </a:p>
          <a:p>
            <a:pPr lvl="0" indent="0" marL="0">
              <a:buNone/>
            </a:pPr>
            <a:r>
              <a:rPr b="1"/>
              <a:t>Broader Context:</a:t>
            </a:r>
            <a:r>
              <a:rPr/>
              <a:t> - Confirms known risks - Provides specific example for education - Motivates better transfer methods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Alternative Approaches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Other Transfer Methods Not Explored</a:t>
            </a:r>
          </a:p>
          <a:p>
            <a:pPr lvl="0" indent="0" marL="0">
              <a:buNone/>
            </a:pPr>
            <a:r>
              <a:rPr b="1"/>
              <a:t>Policy Transfer:</a:t>
            </a:r>
            <a:r>
              <a:rPr/>
              <a:t> - Directly copy/adapt source policy - Requires similar action spaces</a:t>
            </a:r>
          </a:p>
          <a:p>
            <a:pPr lvl="0" indent="0" marL="0">
              <a:buNone/>
            </a:pPr>
            <a:r>
              <a:rPr b="1"/>
              <a:t>Value Function Initialization:</a:t>
            </a:r>
            <a:r>
              <a:rPr/>
              <a:t> - Warm-start target Q-table - We partially did this</a:t>
            </a:r>
          </a:p>
          <a:p>
            <a:pPr lvl="0" indent="0" marL="0">
              <a:buNone/>
            </a:pPr>
            <a:r>
              <a:rPr b="1"/>
              <a:t>Reward Shaping:</a:t>
            </a:r>
            <a:r>
              <a:rPr/>
              <a:t> - Potential-based shaping - F(s,s’) = γΦ(s’) - Φ(s)</a:t>
            </a:r>
          </a:p>
          <a:p>
            <a:pPr lvl="0" indent="0" marL="0">
              <a:buNone/>
            </a:pPr>
            <a:r>
              <a:rPr b="1"/>
              <a:t>Model Transfer:</a:t>
            </a:r>
            <a:r>
              <a:rPr/>
              <a:t> - Transfer learned dynamics models - More complex to implement</a:t>
            </a:r>
          </a:p>
          <a:p>
            <a:pPr lvl="0" indent="0" marL="0">
              <a:buNone/>
            </a:pPr>
            <a:r>
              <a:rPr b="1"/>
              <a:t>Feature Transfer:</a:t>
            </a:r>
            <a:r>
              <a:rPr/>
              <a:t> - Share learned representations - Requires function approximation (deep RL)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Backup: Team Roles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Division of Labor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400300"/>
                <a:gridCol w="1397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Charith Kapuluru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review &amp; problem statement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Background research, problem formulation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Bhargav Reddy Alimili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Algorithm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Q-learning, RL-KS agents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Karthik Saraf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Simulation experiments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GridWorld, CartPole setups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Sreekanth Taduru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Metrics, graphs, analysis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Himesh Chander Addiga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Evaluation &amp; 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Report, presentation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Note:</a:t>
            </a:r>
            <a:r>
              <a:rPr/>
              <a:t> In practice, all members contributed across areas in collaborative fashion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End of Backup Slides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2025-11-02T22:13:28Z</dcterms:created>
  <dcterms:modified xsi:type="dcterms:W3CDTF">2025-11-02T22:13:28Z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